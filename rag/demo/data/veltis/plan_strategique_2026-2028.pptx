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que la croissance 2025 vient surtout du Pro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régularité de la progression attendue.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Plan stratégique « Cap 2028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DDE6F0"/>
                </a:solidFill>
              </a:defRPr>
            </a:pPr>
            <a:r>
              <a:t>Comité de direction — 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Où en sommes-nous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Veltis SA — Comité de direction —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2E7D5B"/>
                </a:solidFill>
              </a:defRPr>
            </a:pPr>
            <a:r>
              <a:t>38,4 M€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t>chiffre d'affaires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2E7D5B"/>
                </a:solidFill>
              </a:defRPr>
            </a:pPr>
            <a:r>
              <a:t>9 850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3383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t>vélos vendus en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2E7D5B"/>
                </a:solidFill>
              </a:defRPr>
            </a:pPr>
            <a:r>
              <a:t>27 %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383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t>du chiffre d'affaires à l'export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Trois axes stratégiques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Veltis SA — Comité de direction — confidentiel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3291840"/>
          </a:xfrm>
          <a:prstGeom prst="roundRect">
            <a:avLst/>
          </a:prstGeom>
          <a:solidFill>
            <a:srgbClr val="E8EEF4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F4E79"/>
                </a:solidFill>
              </a:defRPr>
            </a:pPr>
            <a:r>
              <a:t>1. Professionnels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55555"/>
                </a:solidFill>
              </a:defRPr>
            </a:pPr>
            <a:r>
              <a:t>Devenir la référence du vélo de livraison urbaine auprès des entreprises.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37360"/>
            <a:ext cx="3474720" cy="3291840"/>
          </a:xfrm>
          <a:prstGeom prst="roundRect">
            <a:avLst/>
          </a:prstGeom>
          <a:solidFill>
            <a:srgbClr val="E8EEF4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F4E79"/>
                </a:solidFill>
              </a:defRPr>
            </a:pPr>
            <a:r>
              <a:t>2.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55555"/>
                </a:solidFill>
              </a:defRPr>
            </a:pPr>
            <a:r>
              <a:t>Ouvrir un nouveau pays par an en Europe du Nord.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474720" cy="3291840"/>
          </a:xfrm>
          <a:prstGeom prst="roundRect">
            <a:avLst/>
          </a:prstGeom>
          <a:solidFill>
            <a:srgbClr val="E8EEF4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F4E79"/>
                </a:solidFill>
              </a:defRPr>
            </a:pPr>
            <a:r>
              <a:t>3.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432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55555"/>
                </a:solidFill>
              </a:defRPr>
            </a:pPr>
            <a:r>
              <a:t>Entretien sur site, location longue durée et reconditionnement.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Trajectoire de croissance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Veltis SA — Comité de direction — confidentiel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280160"/>
            <a:ext cx="8138160" cy="4454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555555"/>
                </a:solidFill>
              </a:defRPr>
            </a:pPr>
            <a:r>
              <a:t>Chiffre d'affaires annuel, en millions d'euros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Calendrier d'ouverture des marchés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Veltis SA — Comité de direction — confidentiel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645920"/>
          <a:ext cx="9418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594360"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Pays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Année d'ouverture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/>
                      </a:pPr>
                      <a:r>
                        <a:t>Mode d'entrée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Pays-Bas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Distributeur exclusif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Allemagne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Filiale commerciale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Danemark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0"/>
                      </a:pPr>
                      <a:r>
                        <a:t>Distributeur exclusif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Investissements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Veltis SA — Comité de direction —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55555"/>
                </a:solidFill>
              </a:defRPr>
            </a:pPr>
            <a:r>
              <a:t>• Deuxième site de production à Lorvan : 6,5 millions d'euros (sous réserve d'approbation du conseil d'administration)</a:t>
            </a:r>
          </a:p>
          <a:p>
            <a:pPr>
              <a:spcAft>
                <a:spcPts val="800"/>
              </a:spcAft>
              <a:defRPr sz="2200" b="0">
                <a:solidFill>
                  <a:srgbClr val="555555"/>
                </a:solidFill>
              </a:defRPr>
            </a:pPr>
            <a:r>
              <a:t>• Atelier de reconditionnement à Marnay : 0,8 million d'euros</a:t>
            </a:r>
          </a:p>
          <a:p>
            <a:pPr>
              <a:spcAft>
                <a:spcPts val="800"/>
              </a:spcAft>
              <a:defRPr sz="2200" b="0">
                <a:solidFill>
                  <a:srgbClr val="555555"/>
                </a:solidFill>
              </a:defRPr>
            </a:pPr>
            <a:r>
              <a:t>• Plateforme de suivi connecté des flottes professionnelles : 0,5 million d'euros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t>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Veltis SA — Comité de direction —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55555"/>
                </a:solidFill>
              </a:defRPr>
            </a:pPr>
            <a:r>
              <a:t>• Mars 2026 : présentation du projet de deuxième site au conseil d'administration</a:t>
            </a:r>
          </a:p>
          <a:p>
            <a:pPr>
              <a:spcAft>
                <a:spcPts val="800"/>
              </a:spcAft>
              <a:defRPr sz="2200" b="0">
                <a:solidFill>
                  <a:srgbClr val="555555"/>
                </a:solidFill>
              </a:defRPr>
            </a:pPr>
            <a:r>
              <a:t>• Avril 2026 : signature du contrat de distribution aux Pays-Bas</a:t>
            </a:r>
          </a:p>
          <a:p>
            <a:pPr>
              <a:spcAft>
                <a:spcPts val="800"/>
              </a:spcAft>
              <a:defRPr sz="2200" b="0">
                <a:solidFill>
                  <a:srgbClr val="555555"/>
                </a:solidFill>
              </a:defRPr>
            </a:pPr>
            <a:r>
              <a:t>• Juin 2026 : lancement de l'offre de location longue durée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stratégique Cap 2028</dc:title>
  <dc:subject/>
  <dc:creator>Claire Dumont</dc:creator>
  <cp:keywords/>
  <dc:description>generated using python-pptx</dc:description>
  <cp:lastModifiedBy>Steve Canny</cp:lastModifiedBy>
  <cp:revision>1</cp:revision>
  <dcterms:created xsi:type="dcterms:W3CDTF">2026-01-22T09:00:00Z</dcterms:created>
  <dcterms:modified xsi:type="dcterms:W3CDTF">2013-01-27T09:15:58Z</dcterms:modified>
  <cp:category/>
</cp:coreProperties>
</file>